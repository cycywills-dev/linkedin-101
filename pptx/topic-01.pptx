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82B"/>
              </a:gs>
              <a:gs pos="100000">
                <a:srgbClr val="074A8F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99339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09AE0"/>
                </a:solidFill>
                <a:latin typeface="Segoe UI Semibold"/>
              </a:rPr>
              <a:t>TOPIC 01 ·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Why LinkedIn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988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A9B4C2"/>
                </a:solidFill>
                <a:latin typeface="Segoe UI"/>
              </a:rPr>
              <a:t>Before building a profile, understand what LinkedIn is for and why it has become the front door to the professional world.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6856" y="5532120"/>
            <a:ext cx="1746504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Early Career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55321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Mid Career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01 — Why LinkedIn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What you'll walk away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E6E7E"/>
                </a:solidFill>
                <a:latin typeface="Segoe UI"/>
              </a:rPr>
              <a:t>By the end of this topic you will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304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6771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Explain the main reasons professionals join LinkedIn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90088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1455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Recognise how overlapping goals create the most opportunity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31336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39867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50208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Quote the platform's scale and why it powers the hidden job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01 — Why LinkedIn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BEFORE WE DIVE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Why do people join LinkedIn?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E6E7E"/>
                </a:solidFill>
                <a:latin typeface="Segoe UI"/>
              </a:rPr>
              <a:t>Most people tick more than one reason — and the magic happens where they overlap.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82296" cy="123444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57984"/>
            <a:ext cx="2926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533"/>
                </a:solidFill>
                <a:latin typeface="Segoe UI"/>
              </a:rPr>
              <a:t>🔍  Job Search &amp; Internships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514600"/>
            <a:ext cx="2926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E6E7E"/>
                </a:solidFill>
                <a:latin typeface="Segoe UI"/>
              </a:rPr>
              <a:t>Browse roles, apply directly, or get discovered by recruiters.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82296" cy="123444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157984"/>
            <a:ext cx="2926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533"/>
                </a:solidFill>
                <a:latin typeface="Segoe UI"/>
              </a:rPr>
              <a:t>🤝  Connections &amp; Networking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514600"/>
            <a:ext cx="2926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E6E7E"/>
                </a:solidFill>
                <a:latin typeface="Segoe UI"/>
              </a:rPr>
              <a:t>Build relationships with peers, alumni, mentors, and collaborators.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11680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01000" y="2011680"/>
            <a:ext cx="82296" cy="1234440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157984"/>
            <a:ext cx="2926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533"/>
                </a:solidFill>
                <a:latin typeface="Segoe UI"/>
              </a:rPr>
              <a:t>📢  Personal Branding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514600"/>
            <a:ext cx="2926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E6E7E"/>
                </a:solidFill>
                <a:latin typeface="Segoe UI"/>
              </a:rPr>
              <a:t>Craft your professional identity — how the world sees you before you walk 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47288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447288"/>
            <a:ext cx="82296" cy="12344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593592"/>
            <a:ext cx="2926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533"/>
                </a:solidFill>
                <a:latin typeface="Segoe UI"/>
              </a:rPr>
              <a:t>📣  Marketing &amp;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3950208"/>
            <a:ext cx="2926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E6E7E"/>
                </a:solidFill>
                <a:latin typeface="Segoe UI"/>
              </a:rPr>
              <a:t>Promote a product, service, or organisation to a professional audience.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47288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0" y="3447288"/>
            <a:ext cx="82296" cy="12344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3593592"/>
            <a:ext cx="2926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533"/>
                </a:solidFill>
                <a:latin typeface="Segoe UI"/>
              </a:rPr>
              <a:t>💰  Investors &amp; Partners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950208"/>
            <a:ext cx="2926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E6E7E"/>
                </a:solidFill>
                <a:latin typeface="Segoe UI"/>
              </a:rPr>
              <a:t>Connect with funders, co-founders, clients, and strategic partners.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447288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01000" y="3447288"/>
            <a:ext cx="82296" cy="123444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3593592"/>
            <a:ext cx="2926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533"/>
                </a:solidFill>
                <a:latin typeface="Segoe UI"/>
              </a:rPr>
              <a:t>🎤  Speaking &amp; Thought Leadership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3950208"/>
            <a:ext cx="2926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E6E7E"/>
                </a:solidFill>
                <a:latin typeface="Segoe UI"/>
              </a:rPr>
              <a:t>Get booked for panels, podcasts, and events by being visible online.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882896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4882896"/>
            <a:ext cx="82296" cy="1234440"/>
          </a:xfrm>
          <a:prstGeom prst="roundRect">
            <a:avLst>
              <a:gd name="adj" fmla="val 50000"/>
            </a:avLst>
          </a:prstGeom>
          <a:solidFill>
            <a:srgbClr val="12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1" y="5029200"/>
            <a:ext cx="2926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B2533"/>
                </a:solidFill>
                <a:latin typeface="Segoe UI"/>
              </a:rPr>
              <a:t>📚  Learning &amp; Research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1" y="5385816"/>
            <a:ext cx="2926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E6E7E"/>
                </a:solidFill>
                <a:latin typeface="Segoe UI"/>
              </a:rPr>
              <a:t>LinkedIn Learning, industry leaders, company research, and trend tracking.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806440"/>
            <a:ext cx="10607040" cy="566928"/>
          </a:xfrm>
          <a:prstGeom prst="roundRect">
            <a:avLst>
              <a:gd name="adj" fmla="val 6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870448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💡  People who use LinkedIn for several reasons at once consistently get the most opportunities.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01 — Why LinkedIn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LinkedIn 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409AE0"/>
                </a:solidFill>
                <a:latin typeface="Segoe UI Semibold"/>
              </a:rPr>
              <a:t>1B+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Members worldwide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92024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14884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409AE0"/>
                </a:solidFill>
                <a:latin typeface="Segoe UI Semibold"/>
              </a:rPr>
              <a:t>67M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78892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Companies listed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2024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4884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409AE0"/>
                </a:solidFill>
                <a:latin typeface="Segoe UI Semibold"/>
              </a:rPr>
              <a:t>87%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8892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Of talent pros use it to hire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92024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14884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409AE0"/>
                </a:solidFill>
                <a:latin typeface="Segoe UI Semibold"/>
              </a:rPr>
              <a:t>200+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278892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Countries &amp; territories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11880"/>
            <a:ext cx="10607040" cy="1463040"/>
          </a:xfrm>
          <a:prstGeom prst="roundRect">
            <a:avLst>
              <a:gd name="adj" fmla="val 6000"/>
            </a:avLst>
          </a:prstGeom>
          <a:solidFill>
            <a:srgbClr val="10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611880"/>
            <a:ext cx="91440" cy="146304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8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09AE0"/>
                </a:solidFill>
                <a:latin typeface="Segoe UI Semibold"/>
              </a:rPr>
              <a:t>The hidden job market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About 70% of jobs are never publicly posted — they are filled through networks. LinkedIn is how you break into roles before they ever reach a job board.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01 — Why LinkedIn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IN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LinkedIn is a job board, a network, and a personal-brand platform at once.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Using it for multiple overlapping goals unlocks the most opportunity.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With 1B+ members and 87% of recruiters active, presence is not optional.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Most roles are filled through networks — show up before the job is posted.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07492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5074920"/>
            <a:ext cx="82296" cy="96012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138928"/>
            <a:ext cx="10149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Segoe UI"/>
              </a:rPr>
              <a:t>"70% of jobs are never publicly posted — LinkedIn is how you reach them."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01 — Why LinkedIn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