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2182B"/>
              </a:gs>
              <a:gs pos="100000">
                <a:srgbClr val="074A8F"/>
              </a:gs>
            </a:gsLst>
            <a:lin scaled="0" ang="183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993392"/>
            <a:ext cx="502920" cy="91440"/>
          </a:xfrm>
          <a:prstGeom prst="roundRect">
            <a:avLst>
              <a:gd name="adj" fmla="val 50000"/>
            </a:avLst>
          </a:prstGeom>
          <a:solidFill>
            <a:srgbClr val="409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409AE0"/>
                </a:solidFill>
                <a:latin typeface="Segoe UI Semibold"/>
              </a:rPr>
              <a:t>TOPIC 03 · SECTION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2542032"/>
            <a:ext cx="104241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 i="0">
                <a:solidFill>
                  <a:srgbClr val="FFFFFF"/>
                </a:solidFill>
                <a:latin typeface="Segoe UI Semibold"/>
              </a:rPr>
              <a:t>Setting Up Your Profile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98848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A9B4C2"/>
                </a:solidFill>
                <a:latin typeface="Segoe UI"/>
              </a:rPr>
              <a:t>Photo, banner, headline, and mutual connections decide whether someone connects with you or scrolls past — before they ever click.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532120"/>
            <a:ext cx="1271016" cy="292608"/>
          </a:xfrm>
          <a:prstGeom prst="roundRect">
            <a:avLst>
              <a:gd name="adj" fmla="val 50000"/>
            </a:avLst>
          </a:prstGeom>
          <a:solidFill>
            <a:srgbClr val="0A6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Students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76856" y="5532120"/>
            <a:ext cx="1746504" cy="292608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Early Career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5532120"/>
            <a:ext cx="1508760" cy="292608"/>
          </a:xfrm>
          <a:prstGeom prst="roundRect">
            <a:avLst>
              <a:gd name="adj" fmla="val 50000"/>
            </a:avLst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Mid Career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46704" y="645566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4A5668"/>
                </a:solidFill>
                <a:latin typeface="Segoe UI"/>
              </a:rPr>
              <a:t>Cyhana Williams ©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455664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A9B4C2"/>
                </a:solidFill>
                <a:latin typeface="Segoe UI"/>
              </a:rPr>
              <a:t>LinkedIn 101  ·  Topic 03 — Profile Setup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6455664"/>
            <a:ext cx="32735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A9B4C2"/>
                </a:solidFill>
                <a:latin typeface="Segoe UI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75488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A66C2"/>
                </a:solidFill>
                <a:latin typeface="Segoe UI Semibold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1B2533"/>
                </a:solidFill>
                <a:latin typeface="Segoe UI Semibold"/>
              </a:rPr>
              <a:t>What you'll walk away with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48132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5E6E7E"/>
                </a:solidFill>
                <a:latin typeface="Segoe UI"/>
              </a:rPr>
              <a:t>By the end of this topic you will be able to: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48840"/>
            <a:ext cx="10607040" cy="676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" y="230428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A6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67712"/>
            <a:ext cx="9601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B2533"/>
                </a:solidFill>
                <a:latin typeface="Segoe UI"/>
              </a:rPr>
              <a:t>Choose a profile photo that earns 21× more views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990088"/>
            <a:ext cx="10607040" cy="676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0120" y="314553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A6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108960"/>
            <a:ext cx="9601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B2533"/>
                </a:solidFill>
                <a:latin typeface="Segoe UI"/>
              </a:rPr>
              <a:t>Lay out every element of your profile header correctly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831336"/>
            <a:ext cx="10607040" cy="676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60120" y="3986784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A6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950208"/>
            <a:ext cx="9601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B2533"/>
                </a:solidFill>
                <a:latin typeface="Segoe UI"/>
              </a:rPr>
              <a:t>Complete the six sections of an All-Star profile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46704" y="645566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B6C0CA"/>
                </a:solidFill>
                <a:latin typeface="Segoe UI"/>
              </a:rPr>
              <a:t>Cyhana Williams ©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455664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9AA6B2"/>
                </a:solidFill>
                <a:latin typeface="Segoe UI"/>
              </a:rPr>
              <a:t>LinkedIn 101  ·  Topic 03 — Profile Setup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6455664"/>
            <a:ext cx="32735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9AA6B2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75488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A66C2"/>
                </a:solidFill>
                <a:latin typeface="Segoe UI Semibold"/>
              </a:rPr>
              <a:t>SECTION 02 · PROFILE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1B2533"/>
                </a:solidFill>
                <a:latin typeface="Segoe UI Semibold"/>
              </a:rPr>
              <a:t>Your profile photo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4173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E6E7E"/>
                </a:solidFill>
                <a:latin typeface="Segoe UI"/>
              </a:rPr>
              <a:t>Profiles with a photo get 21× more views and 9× more connection requests.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965960"/>
            <a:ext cx="3383280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2194560"/>
            <a:ext cx="2926080" cy="420624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Segoe UI"/>
              </a:rPr>
              <a:t>✓ Great — Headshot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926080"/>
            <a:ext cx="28803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150" b="1" i="0">
                <a:solidFill>
                  <a:srgbClr val="2E9E5B"/>
                </a:solidFill>
                <a:latin typeface="Segoe UI"/>
              </a:rPr>
              <a:t>•  </a:t>
            </a:r>
            <a:r>
              <a:rPr sz="1150" b="0" i="0">
                <a:solidFill>
                  <a:srgbClr val="1B2533"/>
                </a:solidFill>
                <a:latin typeface="Segoe UI"/>
              </a:rPr>
              <a:t>Clear face, looking at camera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150" b="1" i="0">
                <a:solidFill>
                  <a:srgbClr val="2E9E5B"/>
                </a:solidFill>
                <a:latin typeface="Segoe UI"/>
              </a:rPr>
              <a:t>•  </a:t>
            </a:r>
            <a:r>
              <a:rPr sz="1150" b="0" i="0">
                <a:solidFill>
                  <a:srgbClr val="1B2533"/>
                </a:solidFill>
                <a:latin typeface="Segoe UI"/>
              </a:rPr>
              <a:t>Neutral or simple background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150" b="1" i="0">
                <a:solidFill>
                  <a:srgbClr val="2E9E5B"/>
                </a:solidFill>
                <a:latin typeface="Segoe UI"/>
              </a:rPr>
              <a:t>•  </a:t>
            </a:r>
            <a:r>
              <a:rPr sz="1150" b="0" i="0">
                <a:solidFill>
                  <a:srgbClr val="1B2533"/>
                </a:solidFill>
                <a:latin typeface="Segoe UI"/>
              </a:rPr>
              <a:t>Well-lit, sharp photo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150" b="1" i="0">
                <a:solidFill>
                  <a:srgbClr val="2E9E5B"/>
                </a:solidFill>
                <a:latin typeface="Segoe UI"/>
              </a:rPr>
              <a:t>•  </a:t>
            </a:r>
            <a:r>
              <a:rPr sz="1150" b="0" i="0">
                <a:solidFill>
                  <a:srgbClr val="1B2533"/>
                </a:solidFill>
                <a:latin typeface="Segoe UI"/>
              </a:rPr>
              <a:t>Professional or smart-casual attire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965960"/>
            <a:ext cx="3383280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617720" y="2194560"/>
            <a:ext cx="2926080" cy="420624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Segoe UI"/>
              </a:rPr>
              <a:t>✓ Great — Framing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926080"/>
            <a:ext cx="28803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150" b="1" i="0">
                <a:solidFill>
                  <a:srgbClr val="2E9E5B"/>
                </a:solidFill>
                <a:latin typeface="Segoe UI"/>
              </a:rPr>
              <a:t>•  </a:t>
            </a:r>
            <a:r>
              <a:rPr sz="1150" b="0" i="0">
                <a:solidFill>
                  <a:srgbClr val="1B2533"/>
                </a:solidFill>
                <a:latin typeface="Segoe UI"/>
              </a:rPr>
              <a:t>Dressed for your industry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150" b="1" i="0">
                <a:solidFill>
                  <a:srgbClr val="2E9E5B"/>
                </a:solidFill>
                <a:latin typeface="Segoe UI"/>
              </a:rPr>
              <a:t>•  </a:t>
            </a:r>
            <a:r>
              <a:rPr sz="1150" b="0" i="0">
                <a:solidFill>
                  <a:srgbClr val="1B2533"/>
                </a:solidFill>
                <a:latin typeface="Segoe UI"/>
              </a:rPr>
              <a:t>Confident, approachable posture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150" b="1" i="0">
                <a:solidFill>
                  <a:srgbClr val="2E9E5B"/>
                </a:solidFill>
                <a:latin typeface="Segoe UI"/>
              </a:rPr>
              <a:t>•  </a:t>
            </a:r>
            <a:r>
              <a:rPr sz="1150" b="0" i="0">
                <a:solidFill>
                  <a:srgbClr val="1B2533"/>
                </a:solidFill>
                <a:latin typeface="Segoe UI"/>
              </a:rPr>
              <a:t>Photo is recent (within 2–3 yrs)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150" b="1" i="0">
                <a:solidFill>
                  <a:srgbClr val="2E9E5B"/>
                </a:solidFill>
                <a:latin typeface="Segoe UI"/>
              </a:rPr>
              <a:t>•  </a:t>
            </a:r>
            <a:r>
              <a:rPr sz="1150" b="0" i="0">
                <a:solidFill>
                  <a:srgbClr val="1B2533"/>
                </a:solidFill>
                <a:latin typeface="Segoe UI"/>
              </a:rPr>
              <a:t>Face fills 60–70% of the frame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965960"/>
            <a:ext cx="3383280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D8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0" y="2194560"/>
            <a:ext cx="2926080" cy="420624"/>
          </a:xfrm>
          <a:prstGeom prst="roundRect">
            <a:avLst>
              <a:gd name="adj" fmla="val 50000"/>
            </a:avLst>
          </a:prstGeom>
          <a:solidFill>
            <a:srgbClr val="D8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Segoe UI"/>
              </a:rPr>
              <a:t>✗ Avoid — Mistakes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926080"/>
            <a:ext cx="28803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150" b="1" i="0">
                <a:solidFill>
                  <a:srgbClr val="D84A4A"/>
                </a:solidFill>
                <a:latin typeface="Segoe UI"/>
              </a:rPr>
              <a:t>•  </a:t>
            </a:r>
            <a:r>
              <a:rPr sz="1150" b="0" i="0">
                <a:solidFill>
                  <a:srgbClr val="1B2533"/>
                </a:solidFill>
                <a:latin typeface="Segoe UI"/>
              </a:rPr>
              <a:t>Blurry or low-resolution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150" b="1" i="0">
                <a:solidFill>
                  <a:srgbClr val="D84A4A"/>
                </a:solidFill>
                <a:latin typeface="Segoe UI"/>
              </a:rPr>
              <a:t>•  </a:t>
            </a:r>
            <a:r>
              <a:rPr sz="1150" b="0" i="0">
                <a:solidFill>
                  <a:srgbClr val="1B2533"/>
                </a:solidFill>
                <a:latin typeface="Segoe UI"/>
              </a:rPr>
              <a:t>Cropped from a group photo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150" b="1" i="0">
                <a:solidFill>
                  <a:srgbClr val="D84A4A"/>
                </a:solidFill>
                <a:latin typeface="Segoe UI"/>
              </a:rPr>
              <a:t>•  </a:t>
            </a:r>
            <a:r>
              <a:rPr sz="1150" b="0" i="0">
                <a:solidFill>
                  <a:srgbClr val="1B2533"/>
                </a:solidFill>
                <a:latin typeface="Segoe UI"/>
              </a:rPr>
              <a:t>Sunglasses, hats, or filters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150" b="1" i="0">
                <a:solidFill>
                  <a:srgbClr val="D84A4A"/>
                </a:solidFill>
                <a:latin typeface="Segoe UI"/>
              </a:rPr>
              <a:t>•  </a:t>
            </a:r>
            <a:r>
              <a:rPr sz="1150" b="0" i="0">
                <a:solidFill>
                  <a:srgbClr val="1B2533"/>
                </a:solidFill>
                <a:latin typeface="Segoe UI"/>
              </a:rPr>
              <a:t>Using no photo at 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46704" y="645566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B6C0CA"/>
                </a:solidFill>
                <a:latin typeface="Segoe UI"/>
              </a:rPr>
              <a:t>Cyhana Williams ©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455664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9AA6B2"/>
                </a:solidFill>
                <a:latin typeface="Segoe UI"/>
              </a:rPr>
              <a:t>LinkedIn 101  ·  Topic 03 — Profile Setup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6455664"/>
            <a:ext cx="32735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9AA6B2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75488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A66C2"/>
                </a:solidFill>
                <a:latin typeface="Segoe UI Semibold"/>
              </a:rPr>
              <a:t>SECTION 02 · PROFILE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1B2533"/>
                </a:solidFill>
                <a:latin typeface="Segoe UI Semibold"/>
              </a:rPr>
              <a:t>Profile header anatomy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4173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E6E7E"/>
                </a:solidFill>
                <a:latin typeface="Segoe UI"/>
              </a:rPr>
              <a:t>Six elements decide your first impression. Get every one right.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965960"/>
            <a:ext cx="5193792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78408" y="2167128"/>
            <a:ext cx="457200" cy="457200"/>
          </a:xfrm>
          <a:prstGeom prst="ellipse">
            <a:avLst/>
          </a:prstGeom>
          <a:solidFill>
            <a:srgbClr val="0A6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19" y="2148840"/>
            <a:ext cx="41879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A66C2"/>
                </a:solidFill>
                <a:latin typeface="Segoe UI Semibold"/>
              </a:rPr>
              <a:t>Banner (1584×396px)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19" y="2496312"/>
            <a:ext cx="4142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E6E7E"/>
                </a:solidFill>
                <a:latin typeface="Segoe UI"/>
              </a:rPr>
              <a:t>Show your field or niche. Use Canva — search 'LinkedIn banner'.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965960"/>
            <a:ext cx="5193792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91655" y="2167128"/>
            <a:ext cx="457200" cy="457200"/>
          </a:xfrm>
          <a:prstGeom prst="ellipse">
            <a:avLst/>
          </a:prstGeom>
          <a:solidFill>
            <a:srgbClr val="0A6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59168" y="2148840"/>
            <a:ext cx="41879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A66C2"/>
                </a:solidFill>
                <a:latin typeface="Segoe UI Semibold"/>
              </a:rPr>
              <a:t>Profile photo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9168" y="2496312"/>
            <a:ext cx="4142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E6E7E"/>
                </a:solidFill>
                <a:latin typeface="Segoe UI"/>
              </a:rPr>
              <a:t>Headshot, well-lit, plain background; face fills 60–70% of frame.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319272"/>
            <a:ext cx="5193792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78408" y="3520440"/>
            <a:ext cx="457200" cy="457200"/>
          </a:xfrm>
          <a:prstGeom prst="ellipse">
            <a:avLst/>
          </a:prstGeom>
          <a:solidFill>
            <a:srgbClr val="0A6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19" y="3502152"/>
            <a:ext cx="41879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A66C2"/>
                </a:solidFill>
                <a:latin typeface="Segoe UI Semibold"/>
              </a:rPr>
              <a:t>Name + 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19" y="3849624"/>
            <a:ext cx="4142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E6E7E"/>
                </a:solidFill>
                <a:latin typeface="Segoe UI"/>
              </a:rPr>
              <a:t>Real, full name. Add pronouns and the audio-name feature.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3319272"/>
            <a:ext cx="5193792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91655" y="3520440"/>
            <a:ext cx="457200" cy="457200"/>
          </a:xfrm>
          <a:prstGeom prst="ellipse">
            <a:avLst/>
          </a:prstGeom>
          <a:solidFill>
            <a:srgbClr val="0A6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9168" y="3502152"/>
            <a:ext cx="41879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A66C2"/>
                </a:solidFill>
                <a:latin typeface="Segoe UI Semibold"/>
              </a:rPr>
              <a:t>Headline (220 chars)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9168" y="3849624"/>
            <a:ext cx="4142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E6E7E"/>
                </a:solidFill>
                <a:latin typeface="Segoe UI"/>
              </a:rPr>
              <a:t>Not a job title — Role | Value Prop | Passion. Shows in search.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672583"/>
            <a:ext cx="5193792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78408" y="4873751"/>
            <a:ext cx="457200" cy="457200"/>
          </a:xfrm>
          <a:prstGeom prst="ellipse">
            <a:avLst/>
          </a:prstGeom>
          <a:solidFill>
            <a:srgbClr val="0A6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19" y="4855464"/>
            <a:ext cx="41879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A66C2"/>
                </a:solidFill>
                <a:latin typeface="Segoe UI Semibold"/>
              </a:rPr>
              <a:t>Followers &amp; connections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19" y="5202936"/>
            <a:ext cx="4142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E6E7E"/>
                </a:solidFill>
                <a:latin typeface="Segoe UI"/>
              </a:rPr>
              <a:t>Connections show trust, followers show reach. Aim for 500+.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0488" y="4672583"/>
            <a:ext cx="5193792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91655" y="4873751"/>
            <a:ext cx="457200" cy="457200"/>
          </a:xfrm>
          <a:prstGeom prst="ellipse">
            <a:avLst/>
          </a:prstGeom>
          <a:solidFill>
            <a:srgbClr val="0A6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9168" y="4855464"/>
            <a:ext cx="41879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A66C2"/>
                </a:solidFill>
                <a:latin typeface="Segoe UI Semibold"/>
              </a:rPr>
              <a:t>Open to Work / Hiring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9168" y="5202936"/>
            <a:ext cx="4142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E6E7E"/>
                </a:solidFill>
                <a:latin typeface="Segoe UI"/>
              </a:rPr>
              <a:t>Toggle the green banner when looking; limit to recruiters only.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46704" y="645566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B6C0CA"/>
                </a:solidFill>
                <a:latin typeface="Segoe UI"/>
              </a:rPr>
              <a:t>Cyhana Williams ©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6455664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9AA6B2"/>
                </a:solidFill>
                <a:latin typeface="Segoe UI"/>
              </a:rPr>
              <a:t>LinkedIn 101  ·  Topic 03 — Profile Setup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6455664"/>
            <a:ext cx="32735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9AA6B2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75488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409AE0"/>
                </a:solidFill>
                <a:latin typeface="Segoe UI Semibold"/>
              </a:rPr>
              <a:t>ALL-STAR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Segoe UI Semibold"/>
              </a:rPr>
              <a:t>The six sections that matter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4173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A9B4C2"/>
                </a:solidFill>
                <a:latin typeface="Segoe UI"/>
              </a:rPr>
              <a:t>Complete all six and LinkedIn's algorithm surfaces you far more often in recruiter searches.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48840"/>
            <a:ext cx="5193792" cy="1051560"/>
          </a:xfrm>
          <a:prstGeom prst="roundRect">
            <a:avLst>
              <a:gd name="adj" fmla="val 6000"/>
            </a:avLst>
          </a:prstGeom>
          <a:solidFill>
            <a:srgbClr val="1C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331720"/>
            <a:ext cx="46908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📷 Profile photo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679192"/>
            <a:ext cx="46908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A9B4C2"/>
                </a:solidFill>
                <a:latin typeface="Segoe UI"/>
              </a:rPr>
              <a:t>Professional headshot, good lighting, plain background. Smile.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0488" y="2148840"/>
            <a:ext cx="5193792" cy="1051560"/>
          </a:xfrm>
          <a:prstGeom prst="roundRect">
            <a:avLst>
              <a:gd name="adj" fmla="val 6000"/>
            </a:avLst>
          </a:prstGeom>
          <a:solidFill>
            <a:srgbClr val="1C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4807" y="2331720"/>
            <a:ext cx="46908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🌐 Background banner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4807" y="2679192"/>
            <a:ext cx="46908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A9B4C2"/>
                </a:solidFill>
                <a:latin typeface="Segoe UI"/>
              </a:rPr>
              <a:t>Show your field or brand. Canva templates make this easy.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383280"/>
            <a:ext cx="5193792" cy="1051560"/>
          </a:xfrm>
          <a:prstGeom prst="roundRect">
            <a:avLst>
              <a:gd name="adj" fmla="val 6000"/>
            </a:avLst>
          </a:prstGeom>
          <a:solidFill>
            <a:srgbClr val="1C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566160"/>
            <a:ext cx="46908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⭐ Headline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913632"/>
            <a:ext cx="46908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A9B4C2"/>
                </a:solidFill>
                <a:latin typeface="Segoe UI"/>
              </a:rPr>
              <a:t>Role | Value Prop | Passion/Goal — not just a job title.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3383280"/>
            <a:ext cx="5193792" cy="1051560"/>
          </a:xfrm>
          <a:prstGeom prst="roundRect">
            <a:avLst>
              <a:gd name="adj" fmla="val 6000"/>
            </a:avLst>
          </a:prstGeom>
          <a:solidFill>
            <a:srgbClr val="1C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7" y="3566160"/>
            <a:ext cx="46908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📖 About / summary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7" y="3913632"/>
            <a:ext cx="46908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A9B4C2"/>
                </a:solidFill>
                <a:latin typeface="Segoe UI"/>
              </a:rPr>
              <a:t>3–5 first-person sentences: who you are + what you want.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617720"/>
            <a:ext cx="5193792" cy="1051560"/>
          </a:xfrm>
          <a:prstGeom prst="roundRect">
            <a:avLst>
              <a:gd name="adj" fmla="val 6000"/>
            </a:avLst>
          </a:prstGeom>
          <a:solidFill>
            <a:srgbClr val="1C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800600"/>
            <a:ext cx="46908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💼 Experience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5148072"/>
            <a:ext cx="46908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A9B4C2"/>
                </a:solidFill>
                <a:latin typeface="Segoe UI"/>
              </a:rPr>
              <a:t>Include internships, part-time jobs, volunteering, campus roles.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0488" y="4617720"/>
            <a:ext cx="5193792" cy="1051560"/>
          </a:xfrm>
          <a:prstGeom prst="roundRect">
            <a:avLst>
              <a:gd name="adj" fmla="val 6000"/>
            </a:avLst>
          </a:prstGeom>
          <a:solidFill>
            <a:srgbClr val="1C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64807" y="4800600"/>
            <a:ext cx="46908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🏅 Skills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07" y="5148072"/>
            <a:ext cx="46908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A9B4C2"/>
                </a:solidFill>
                <a:latin typeface="Segoe UI"/>
              </a:rPr>
              <a:t>Add 5–10 relevant skills and ask peers to endorse you.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645566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4A5668"/>
                </a:solidFill>
                <a:latin typeface="Segoe UI"/>
              </a:rPr>
              <a:t>Cyhana Williams ©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455664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A9B4C2"/>
                </a:solidFill>
                <a:latin typeface="Segoe UI"/>
              </a:rPr>
              <a:t>LinkedIn 101  ·  Topic 03 — Profile Setup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6455664"/>
            <a:ext cx="32735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A9B4C2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75488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409AE0"/>
                </a:solidFill>
                <a:latin typeface="Segoe UI Semibold"/>
              </a:rPr>
              <a:t>IN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Segoe UI Semibold"/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60704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450" b="1" i="0">
                <a:solidFill>
                  <a:srgbClr val="2E9E5B"/>
                </a:solidFill>
                <a:latin typeface="Segoe UI"/>
              </a:rPr>
              <a:t>✓  </a:t>
            </a:r>
            <a:r>
              <a:rPr sz="1450" b="0" i="0">
                <a:solidFill>
                  <a:srgbClr val="FFFFFF"/>
                </a:solidFill>
                <a:latin typeface="Segoe UI"/>
              </a:rPr>
              <a:t>A photo earns 21× more views and 9× more connection requests — never skip it.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450" b="1" i="0">
                <a:solidFill>
                  <a:srgbClr val="2E9E5B"/>
                </a:solidFill>
                <a:latin typeface="Segoe UI"/>
              </a:rPr>
              <a:t>✓  </a:t>
            </a:r>
            <a:r>
              <a:rPr sz="1450" b="0" i="0">
                <a:solidFill>
                  <a:srgbClr val="FFFFFF"/>
                </a:solidFill>
                <a:latin typeface="Segoe UI"/>
              </a:rPr>
              <a:t>Your banner, photo, name, and headline are visible before anyone clicks.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450" b="1" i="0">
                <a:solidFill>
                  <a:srgbClr val="2E9E5B"/>
                </a:solidFill>
                <a:latin typeface="Segoe UI"/>
              </a:rPr>
              <a:t>✓  </a:t>
            </a:r>
            <a:r>
              <a:rPr sz="1450" b="0" i="0">
                <a:solidFill>
                  <a:srgbClr val="FFFFFF"/>
                </a:solidFill>
                <a:latin typeface="Segoe UI"/>
              </a:rPr>
              <a:t>Use the headline formula: Role | Value Prop | Passion — not a bare job title.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450" b="1" i="0">
                <a:solidFill>
                  <a:srgbClr val="2E9E5B"/>
                </a:solidFill>
                <a:latin typeface="Segoe UI"/>
              </a:rPr>
              <a:t>✓  </a:t>
            </a:r>
            <a:r>
              <a:rPr sz="1450" b="0" i="0">
                <a:solidFill>
                  <a:srgbClr val="FFFFFF"/>
                </a:solidFill>
                <a:latin typeface="Segoe UI"/>
              </a:rPr>
              <a:t>Completing all six profile sections unlocks All-Star and recruiter visibility.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5074920"/>
            <a:ext cx="10607040" cy="960120"/>
          </a:xfrm>
          <a:prstGeom prst="roundRect">
            <a:avLst>
              <a:gd name="adj" fmla="val 6000"/>
            </a:avLst>
          </a:prstGeom>
          <a:solidFill>
            <a:srgbClr val="1C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5074920"/>
            <a:ext cx="82296" cy="960120"/>
          </a:xfrm>
          <a:prstGeom prst="roundRect">
            <a:avLst>
              <a:gd name="adj" fmla="val 50000"/>
            </a:avLst>
          </a:prstGeom>
          <a:solidFill>
            <a:srgbClr val="409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5138928"/>
            <a:ext cx="101498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1">
                <a:solidFill>
                  <a:srgbClr val="FFFFFF"/>
                </a:solidFill>
                <a:latin typeface="Segoe UI"/>
              </a:rPr>
              <a:t>"Your photo, name, headline, and mutual connections decide who connects — or scrolls past."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46704" y="645566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4A5668"/>
                </a:solidFill>
                <a:latin typeface="Segoe UI"/>
              </a:rPr>
              <a:t>Cyhana Williams ©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55664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A9B4C2"/>
                </a:solidFill>
                <a:latin typeface="Segoe UI"/>
              </a:rPr>
              <a:t>LinkedIn 101  ·  Topic 03 — Profile Setup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6455664"/>
            <a:ext cx="32735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A9B4C2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