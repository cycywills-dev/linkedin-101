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2182B"/>
              </a:gs>
              <a:gs pos="100000">
                <a:srgbClr val="074A8F"/>
              </a:gs>
            </a:gsLst>
            <a:lin scaled="0" ang="183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993392"/>
            <a:ext cx="502920" cy="91440"/>
          </a:xfrm>
          <a:prstGeom prst="roundRect">
            <a:avLst>
              <a:gd name="adj" fmla="val 50000"/>
            </a:avLst>
          </a:prstGeom>
          <a:solidFill>
            <a:srgbClr val="409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409AE0"/>
                </a:solidFill>
                <a:latin typeface="Segoe UI Semibold"/>
              </a:rPr>
              <a:t>TOPIC 06 · SECTION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2542032"/>
            <a:ext cx="104241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4600" b="1" i="0">
                <a:solidFill>
                  <a:srgbClr val="FFFFFF"/>
                </a:solidFill>
                <a:latin typeface="Segoe UI Semibold"/>
              </a:rPr>
              <a:t>Content &amp; Engagement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498848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A9B4C2"/>
                </a:solidFill>
                <a:latin typeface="Segoe UI"/>
              </a:rPr>
              <a:t>Stay consistent — you don't need to go viral to be seen. Engagement and a weekly post keep you visible to the people who matter.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532120"/>
            <a:ext cx="1271016" cy="292608"/>
          </a:xfrm>
          <a:prstGeom prst="roundRect">
            <a:avLst>
              <a:gd name="adj" fmla="val 50000"/>
            </a:avLst>
          </a:prstGeom>
          <a:solidFill>
            <a:srgbClr val="0A6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Students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76856" y="5532120"/>
            <a:ext cx="1746504" cy="292608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Early Career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5532120"/>
            <a:ext cx="1508760" cy="292608"/>
          </a:xfrm>
          <a:prstGeom prst="roundRect">
            <a:avLst>
              <a:gd name="adj" fmla="val 50000"/>
            </a:avLst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Mid Career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46704" y="645566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4A5668"/>
                </a:solidFill>
                <a:latin typeface="Segoe UI"/>
              </a:rPr>
              <a:t>Cyhana Williams ©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455664"/>
            <a:ext cx="3657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A9B4C2"/>
                </a:solidFill>
                <a:latin typeface="Segoe UI"/>
              </a:rPr>
              <a:t>LinkedIn 101  ·  Topic 06 — Content &amp; Engagement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6455664"/>
            <a:ext cx="32735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A9B4C2"/>
                </a:solidFill>
                <a:latin typeface="Segoe UI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75488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A66C2"/>
                </a:solidFill>
                <a:latin typeface="Segoe UI Semibold"/>
              </a:rP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1B2533"/>
                </a:solidFill>
                <a:latin typeface="Segoe UI Semibold"/>
              </a:rPr>
              <a:t>What you'll walk away with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481328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5E6E7E"/>
                </a:solidFill>
                <a:latin typeface="Segoe UI"/>
              </a:rPr>
              <a:t>By the end of this topic you will be able to: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148840"/>
            <a:ext cx="10607040" cy="6766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" y="230428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A6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67712"/>
            <a:ext cx="9601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B2533"/>
                </a:solidFill>
                <a:latin typeface="Segoe UI"/>
              </a:rPr>
              <a:t>Build a simple, sustainable engagement routine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990088"/>
            <a:ext cx="10607040" cy="6766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0120" y="3145536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A6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3108960"/>
            <a:ext cx="9601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B2533"/>
                </a:solidFill>
                <a:latin typeface="Segoe UI"/>
              </a:rPr>
              <a:t>Choose content ideas that reliably perform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831336"/>
            <a:ext cx="10607040" cy="6766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60120" y="3986784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A6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950208"/>
            <a:ext cx="9601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B2533"/>
                </a:solidFill>
                <a:latin typeface="Segoe UI"/>
              </a:rPr>
              <a:t>Structure a post that stands out in the feed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46704" y="645566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B6C0CA"/>
                </a:solidFill>
                <a:latin typeface="Segoe UI"/>
              </a:rPr>
              <a:t>Cyhana Williams ©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455664"/>
            <a:ext cx="3657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9AA6B2"/>
                </a:solidFill>
                <a:latin typeface="Segoe UI"/>
              </a:rPr>
              <a:t>LinkedIn 101  ·  Topic 06 — Content &amp; Engagement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6455664"/>
            <a:ext cx="32735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9AA6B2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75488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A66C2"/>
                </a:solidFill>
                <a:latin typeface="Segoe UI Semibold"/>
              </a:rPr>
              <a:t>SECTION 05 · CONTENT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1B2533"/>
                </a:solidFill>
                <a:latin typeface="Segoe UI Semibold"/>
              </a:rPr>
              <a:t>Engaging with content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4173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E6E7E"/>
                </a:solidFill>
                <a:latin typeface="Segoe UI"/>
              </a:rPr>
              <a:t>Four habits, from lowest to highest effort — all keep you visible.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965960"/>
            <a:ext cx="2542032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965960"/>
            <a:ext cx="2542032" cy="109728"/>
          </a:xfrm>
          <a:prstGeom prst="roundRect">
            <a:avLst>
              <a:gd name="adj" fmla="val 50000"/>
            </a:avLst>
          </a:prstGeom>
          <a:solidFill>
            <a:srgbClr val="0A6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213055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B2533"/>
                </a:solidFill>
                <a:latin typeface="Segoe UI Semibold"/>
              </a:rPr>
              <a:t>👍 React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788920"/>
            <a:ext cx="2130551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E6E7E"/>
                </a:solidFill>
                <a:latin typeface="Segoe UI"/>
              </a:rPr>
              <a:t>React to 3–5 posts a day. Keeps you visible in the feed.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47872" y="1965960"/>
            <a:ext cx="2542032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547872" y="1965960"/>
            <a:ext cx="2542032" cy="109728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76472" y="2286000"/>
            <a:ext cx="213055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B2533"/>
                </a:solidFill>
                <a:latin typeface="Segoe UI Semibold"/>
              </a:rPr>
              <a:t>💬 Comment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76472" y="2788920"/>
            <a:ext cx="2130551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E6E7E"/>
                </a:solidFill>
                <a:latin typeface="Segoe UI"/>
              </a:rPr>
              <a:t>1–2 thoughtful sentences. Comments strongly boost visibility.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18503" y="1965960"/>
            <a:ext cx="2542032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18503" y="1965960"/>
            <a:ext cx="2542032" cy="109728"/>
          </a:xfrm>
          <a:prstGeom prst="roundRect">
            <a:avLst>
              <a:gd name="adj" fmla="val 50000"/>
            </a:avLst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47103" y="2286000"/>
            <a:ext cx="213055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B2533"/>
                </a:solidFill>
                <a:latin typeface="Segoe UI Semibold"/>
              </a:rPr>
              <a:t>🔄 Share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7103" y="2788920"/>
            <a:ext cx="2130551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E6E7E"/>
                </a:solidFill>
                <a:latin typeface="Segoe UI"/>
              </a:rPr>
              <a:t>Reshare industry news or articles and add your own take.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89136" y="1965960"/>
            <a:ext cx="2542032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089136" y="1965960"/>
            <a:ext cx="2542032" cy="109728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17736" y="2286000"/>
            <a:ext cx="213055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B2533"/>
                </a:solidFill>
                <a:latin typeface="Segoe UI Semibold"/>
              </a:rPr>
              <a:t>✏️ Post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17736" y="2788920"/>
            <a:ext cx="2130551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E6E7E"/>
                </a:solidFill>
                <a:latin typeface="Segoe UI"/>
              </a:rPr>
              <a:t>One original post a week — lessons, wins, questions, insights.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434840"/>
            <a:ext cx="10607040" cy="1417320"/>
          </a:xfrm>
          <a:prstGeom prst="roundRect">
            <a:avLst>
              <a:gd name="adj" fmla="val 6000"/>
            </a:avLst>
          </a:prstGeom>
          <a:solidFill>
            <a:srgbClr val="12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77240" y="4434840"/>
            <a:ext cx="91440" cy="1417320"/>
          </a:xfrm>
          <a:prstGeom prst="roundRect">
            <a:avLst>
              <a:gd name="adj" fmla="val 50000"/>
            </a:avLst>
          </a:prstGeom>
          <a:solidFill>
            <a:srgbClr val="409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461772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409AE0"/>
                </a:solidFill>
                <a:latin typeface="Segoe UI Semibold"/>
              </a:rPr>
              <a:t>⚡  Easy first post</a:t>
            </a:r>
          </a:p>
          <a:p>
            <a:pPr algn="l">
              <a:lnSpc>
                <a:spcPct val="125000"/>
              </a:lnSpc>
              <a:spcBef>
                <a:spcPts val="400"/>
              </a:spcBef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Segoe UI"/>
              </a:rPr>
              <a:t>"3 things I learned from my internship at [Company]."  Personal + honest = high engagement. You don't need a big audience to start.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46704" y="645566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B6C0CA"/>
                </a:solidFill>
                <a:latin typeface="Segoe UI"/>
              </a:rPr>
              <a:t>Cyhana Williams ©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455664"/>
            <a:ext cx="3657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9AA6B2"/>
                </a:solidFill>
                <a:latin typeface="Segoe UI"/>
              </a:rPr>
              <a:t>LinkedIn 101  ·  Topic 06 — Content &amp; Engagement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6455664"/>
            <a:ext cx="32735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9AA6B2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75488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A66C2"/>
                </a:solidFill>
                <a:latin typeface="Segoe UI Semibold"/>
              </a:rPr>
              <a:t>SECTION 05 · CONTENT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1B2533"/>
                </a:solidFill>
                <a:latin typeface="Segoe UI Semibold"/>
              </a:rPr>
              <a:t>Content ideas that perform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5193792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084832"/>
            <a:ext cx="46908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B2533"/>
                </a:solidFill>
                <a:latin typeface="Segoe UI"/>
              </a:rPr>
              <a:t>💡 Lessons learned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414016"/>
            <a:ext cx="46908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1">
                <a:solidFill>
                  <a:srgbClr val="5E6E7E"/>
                </a:solidFill>
                <a:latin typeface="Segoe UI"/>
              </a:rPr>
              <a:t>"3 things my internship taught me about X."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0488" y="1920240"/>
            <a:ext cx="5193792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64807" y="2084832"/>
            <a:ext cx="46908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B2533"/>
                </a:solidFill>
                <a:latin typeface="Segoe UI"/>
              </a:rPr>
              <a:t>📈 Career wins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64807" y="2414016"/>
            <a:ext cx="46908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1">
                <a:solidFill>
                  <a:srgbClr val="5E6E7E"/>
                </a:solidFill>
                <a:latin typeface="Segoe UI"/>
              </a:rPr>
              <a:t>New job, promotion, or a project milestone.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999232"/>
            <a:ext cx="5193792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163824"/>
            <a:ext cx="46908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B2533"/>
                </a:solidFill>
                <a:latin typeface="Segoe UI"/>
              </a:rPr>
              <a:t>💬 Hot takes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493008"/>
            <a:ext cx="46908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1">
                <a:solidFill>
                  <a:srgbClr val="5E6E7E"/>
                </a:solidFill>
                <a:latin typeface="Segoe UI"/>
              </a:rPr>
              <a:t>A contrarian opinion on a trend in your field.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0488" y="2999232"/>
            <a:ext cx="5193792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7" y="3163824"/>
            <a:ext cx="46908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B2533"/>
                </a:solidFill>
                <a:latin typeface="Segoe UI"/>
              </a:rPr>
              <a:t>📖 Resources / lists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7" y="3493008"/>
            <a:ext cx="46908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1">
                <a:solidFill>
                  <a:srgbClr val="5E6E7E"/>
                </a:solidFill>
                <a:latin typeface="Segoe UI"/>
              </a:rPr>
              <a:t>"5 free tools every designer should know."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078224"/>
            <a:ext cx="5193792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4242816"/>
            <a:ext cx="46908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B2533"/>
                </a:solidFill>
                <a:latin typeface="Segoe UI"/>
              </a:rPr>
              <a:t>🔧 Behind the scenes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572000"/>
            <a:ext cx="46908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1">
                <a:solidFill>
                  <a:srgbClr val="5E6E7E"/>
                </a:solidFill>
                <a:latin typeface="Segoe UI"/>
              </a:rPr>
              <a:t>Day-in-the-life or a process breakdown.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0488" y="4078224"/>
            <a:ext cx="5193792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64807" y="4242816"/>
            <a:ext cx="46908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B2533"/>
                </a:solidFill>
                <a:latin typeface="Segoe UI"/>
              </a:rPr>
              <a:t>❓ Questions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4807" y="4572000"/>
            <a:ext cx="46908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1">
                <a:solidFill>
                  <a:srgbClr val="5E6E7E"/>
                </a:solidFill>
                <a:latin typeface="Segoe UI"/>
              </a:rPr>
              <a:t>Ask your network — high comment bait.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46704" y="645566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B6C0CA"/>
                </a:solidFill>
                <a:latin typeface="Segoe UI"/>
              </a:rPr>
              <a:t>Cyhana Williams ©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6455664"/>
            <a:ext cx="3657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9AA6B2"/>
                </a:solidFill>
                <a:latin typeface="Segoe UI"/>
              </a:rPr>
              <a:t>LinkedIn 101  ·  Topic 06 — Content &amp; Engagement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6455664"/>
            <a:ext cx="32735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9AA6B2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75488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409AE0"/>
                </a:solidFill>
                <a:latin typeface="Segoe UI Semibold"/>
              </a:rPr>
              <a:t>SECTION 05 · CONTENT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FFFFFF"/>
                </a:solidFill>
                <a:latin typeface="Segoe UI Semibold"/>
              </a:rPr>
              <a:t>Five ways to make a post stand 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48132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A9B4C2"/>
                </a:solidFill>
                <a:latin typeface="Segoe UI"/>
              </a:rPr>
              <a:t>The structure of a post matters as much as the idea behind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57400"/>
            <a:ext cx="1060704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400" b="1" i="0">
                <a:solidFill>
                  <a:srgbClr val="409AE0"/>
                </a:solidFill>
                <a:latin typeface="Segoe UI"/>
              </a:rPr>
              <a:t>→ 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Hook first — your opening line is everything; LinkedIn truncates after 2–3 lines.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400" b="1" i="0">
                <a:solidFill>
                  <a:srgbClr val="409AE0"/>
                </a:solidFill>
                <a:latin typeface="Segoe UI"/>
              </a:rPr>
              <a:t>→ 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Use white space — short, punchy paragraphs beat walls of text. One idea per line.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400" b="1" i="0">
                <a:solidFill>
                  <a:srgbClr val="409AE0"/>
                </a:solidFill>
                <a:latin typeface="Segoe UI"/>
              </a:rPr>
              <a:t>→ 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Add an image or graphic — posts with visuals get 2× more engagement.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400" b="1" i="0">
                <a:solidFill>
                  <a:srgbClr val="409AE0"/>
                </a:solidFill>
                <a:latin typeface="Segoe UI"/>
              </a:rPr>
              <a:t>→ 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End with a question or CTA — "What's your take?" drives comments.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400" b="1" i="0">
                <a:solidFill>
                  <a:srgbClr val="409AE0"/>
                </a:solidFill>
                <a:latin typeface="Segoe UI"/>
              </a:rPr>
              <a:t>→ 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Use 3–5 relevant hashtags at the end, not in the body. #Design #CareerTips #UX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46704" y="645566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4A5668"/>
                </a:solidFill>
                <a:latin typeface="Segoe UI"/>
              </a:rPr>
              <a:t>Cyhana Williams ©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55664"/>
            <a:ext cx="3657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A9B4C2"/>
                </a:solidFill>
                <a:latin typeface="Segoe UI"/>
              </a:rPr>
              <a:t>LinkedIn 101  ·  Topic 06 — Content &amp; Engagement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455664"/>
            <a:ext cx="32735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A9B4C2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75488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409AE0"/>
                </a:solidFill>
                <a:latin typeface="Segoe UI Semibold"/>
              </a:rPr>
              <a:t>IN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FFFFFF"/>
                </a:solidFill>
                <a:latin typeface="Segoe UI Semibold"/>
              </a:rP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60704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450" b="1" i="0">
                <a:solidFill>
                  <a:srgbClr val="2E9E5B"/>
                </a:solidFill>
                <a:latin typeface="Segoe UI"/>
              </a:rPr>
              <a:t>✓  </a:t>
            </a:r>
            <a:r>
              <a:rPr sz="1450" b="0" i="0">
                <a:solidFill>
                  <a:srgbClr val="FFFFFF"/>
                </a:solidFill>
                <a:latin typeface="Segoe UI"/>
              </a:rPr>
              <a:t>Consistency beats virality — show up in the feed every day.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450" b="1" i="0">
                <a:solidFill>
                  <a:srgbClr val="2E9E5B"/>
                </a:solidFill>
                <a:latin typeface="Segoe UI"/>
              </a:rPr>
              <a:t>✓  </a:t>
            </a:r>
            <a:r>
              <a:rPr sz="1450" b="0" i="0">
                <a:solidFill>
                  <a:srgbClr val="FFFFFF"/>
                </a:solidFill>
                <a:latin typeface="Segoe UI"/>
              </a:rPr>
              <a:t>React, comment, share, and post one original piece a week.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450" b="1" i="0">
                <a:solidFill>
                  <a:srgbClr val="2E9E5B"/>
                </a:solidFill>
                <a:latin typeface="Segoe UI"/>
              </a:rPr>
              <a:t>✓  </a:t>
            </a:r>
            <a:r>
              <a:rPr sz="1450" b="0" i="0">
                <a:solidFill>
                  <a:srgbClr val="FFFFFF"/>
                </a:solidFill>
                <a:latin typeface="Segoe UI"/>
              </a:rPr>
              <a:t>Lead with a hook, use white space, and add a visual for 2× engagement.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450" b="1" i="0">
                <a:solidFill>
                  <a:srgbClr val="2E9E5B"/>
                </a:solidFill>
                <a:latin typeface="Segoe UI"/>
              </a:rPr>
              <a:t>✓  </a:t>
            </a:r>
            <a:r>
              <a:rPr sz="1450" b="0" i="0">
                <a:solidFill>
                  <a:srgbClr val="FFFFFF"/>
                </a:solidFill>
                <a:latin typeface="Segoe UI"/>
              </a:rPr>
              <a:t>End every post with a question or CTA to drive comments.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5074920"/>
            <a:ext cx="10607040" cy="960120"/>
          </a:xfrm>
          <a:prstGeom prst="roundRect">
            <a:avLst>
              <a:gd name="adj" fmla="val 6000"/>
            </a:avLst>
          </a:prstGeom>
          <a:solidFill>
            <a:srgbClr val="1C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5074920"/>
            <a:ext cx="82296" cy="960120"/>
          </a:xfrm>
          <a:prstGeom prst="roundRect">
            <a:avLst>
              <a:gd name="adj" fmla="val 50000"/>
            </a:avLst>
          </a:prstGeom>
          <a:solidFill>
            <a:srgbClr val="409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5138928"/>
            <a:ext cx="101498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1">
                <a:solidFill>
                  <a:srgbClr val="FFFFFF"/>
                </a:solidFill>
                <a:latin typeface="Segoe UI"/>
              </a:rPr>
              <a:t>"You don't need to go viral to be seen — you need to be consistent."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46704" y="645566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4A5668"/>
                </a:solidFill>
                <a:latin typeface="Segoe UI"/>
              </a:rPr>
              <a:t>Cyhana Williams ©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55664"/>
            <a:ext cx="3657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A9B4C2"/>
                </a:solidFill>
                <a:latin typeface="Segoe UI"/>
              </a:rPr>
              <a:t>LinkedIn 101  ·  Topic 06 — Content &amp; Engagement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6455664"/>
            <a:ext cx="32735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A9B4C2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