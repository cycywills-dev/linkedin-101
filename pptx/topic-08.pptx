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12182B"/>
              </a:gs>
              <a:gs pos="100000">
                <a:srgbClr val="074A8F"/>
              </a:gs>
            </a:gsLst>
            <a:lin scaled="0" ang="183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993392"/>
            <a:ext cx="502920" cy="9144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409AE0"/>
                </a:solidFill>
                <a:latin typeface="Segoe UI Semibold"/>
              </a:rPr>
              <a:t>TOPIC 08 ·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542032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Segoe UI Semibold"/>
              </a:rPr>
              <a:t>Staying Safe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9884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A9B4C2"/>
                </a:solidFill>
                <a:latin typeface="Segoe UI"/>
              </a:rPr>
              <a:t>A strong presence also means a safe one. Spot scams, lock down your account, and avoid the behaviour that gets profiles restricted.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1271016" cy="292608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76856" y="5532120"/>
            <a:ext cx="1746504" cy="292608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Early Career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5532120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Segoe UI"/>
              </a:rPr>
              <a:t>Mid Career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08 — Staying Safe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What you'll walk away with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8132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A9B4C2"/>
                </a:solidFill>
                <a:latin typeface="Segoe UI"/>
              </a:rPr>
              <a:t>By the end of this topic you will be able to: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3042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267712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Recognise the most common LinkedIn scams and fake profiles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990088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60120" y="31455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08960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Secure your account with 2FA and good password hygiene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831336"/>
            <a:ext cx="10607040" cy="676656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" y="398678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50208"/>
            <a:ext cx="9601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Avoid the behaviours that get profiles restricted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08 — Staying Safe Online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STAY SAFE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Scams &amp; fake profiles to watch for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10607040" cy="749808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82296" cy="749808"/>
          </a:xfrm>
          <a:prstGeom prst="roundRect">
            <a:avLst>
              <a:gd name="adj" fmla="val 50000"/>
            </a:avLst>
          </a:prstGeom>
          <a:solidFill>
            <a:srgbClr val="D8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47672"/>
            <a:ext cx="4023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👤 Too-good-to-be-true offers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947672"/>
            <a:ext cx="6126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4C2"/>
                </a:solidFill>
                <a:latin typeface="Segoe UI"/>
              </a:rPr>
              <a:t>Unsolicited DMs offering high salaries for vague roles with no interview are almost always scams.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670048"/>
            <a:ext cx="10607040" cy="749808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670048"/>
            <a:ext cx="82296" cy="749808"/>
          </a:xfrm>
          <a:prstGeom prst="roundRect">
            <a:avLst>
              <a:gd name="adj" fmla="val 50000"/>
            </a:avLst>
          </a:prstGeom>
          <a:solidFill>
            <a:srgbClr val="D8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88920"/>
            <a:ext cx="4023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💸 Requests for money or gift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788920"/>
            <a:ext cx="6126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4C2"/>
                </a:solidFill>
                <a:latin typeface="Segoe UI"/>
              </a:rPr>
              <a:t>Legitimate recruiters never ask you to pay fees, buy equipment, or send payment.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11296"/>
            <a:ext cx="10607040" cy="749808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511296"/>
            <a:ext cx="82296" cy="749808"/>
          </a:xfrm>
          <a:prstGeom prst="roundRect">
            <a:avLst>
              <a:gd name="adj" fmla="val 50000"/>
            </a:avLst>
          </a:prstGeom>
          <a:solidFill>
            <a:srgbClr val="D8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30168"/>
            <a:ext cx="4023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🔗 Suspicious links in messages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630168"/>
            <a:ext cx="6126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4C2"/>
                </a:solidFill>
                <a:latin typeface="Segoe UI"/>
              </a:rPr>
              <a:t>Never click unknown links in DMs — even from connections. Hover before clicking.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352544"/>
            <a:ext cx="10607040" cy="749808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352544"/>
            <a:ext cx="82296" cy="749808"/>
          </a:xfrm>
          <a:prstGeom prst="roundRect">
            <a:avLst>
              <a:gd name="adj" fmla="val 50000"/>
            </a:avLst>
          </a:prstGeom>
          <a:solidFill>
            <a:srgbClr val="D8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471416"/>
            <a:ext cx="4023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🧑‍💻 Fake recruiter profiles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471416"/>
            <a:ext cx="6126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4C2"/>
                </a:solidFill>
                <a:latin typeface="Segoe UI"/>
              </a:rPr>
              <a:t>Few connections, stock photo, no work history, recent account — cross-verify on the company site.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5193792"/>
            <a:ext cx="10607040" cy="749808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5193792"/>
            <a:ext cx="82296" cy="749808"/>
          </a:xfrm>
          <a:prstGeom prst="roundRect">
            <a:avLst>
              <a:gd name="adj" fmla="val 50000"/>
            </a:avLst>
          </a:prstGeom>
          <a:solidFill>
            <a:srgbClr val="D8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312664"/>
            <a:ext cx="4023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💬 Romance / trust scams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5312664"/>
            <a:ext cx="6126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A9B4C2"/>
                </a:solidFill>
                <a:latin typeface="Segoe UI"/>
              </a:rPr>
              <a:t>Scammers build rapport over weeks before a financial ask. Be wary of overly personal messages.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08 — Staying Safe Online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A66C2"/>
                </a:solidFill>
                <a:latin typeface="Segoe UI Semibold"/>
              </a:rPr>
              <a:t>STAY SAFE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B2533"/>
                </a:solidFill>
                <a:latin typeface="Segoe UI Semibold"/>
              </a:rPr>
              <a:t>Protect your account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51937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2533"/>
                </a:solidFill>
                <a:latin typeface="Segoe UI"/>
              </a:rPr>
              <a:t>🔐 Enable Two-Factor Auth (2FA)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4690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Settings → Sign in &amp; Security → Two-step verification. Use an authenticator app over SMS.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920240"/>
            <a:ext cx="51937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0488" y="1920240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7" y="2103120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2533"/>
                </a:solidFill>
                <a:latin typeface="Segoe UI"/>
              </a:rPr>
              <a:t>🔑 Strong, unique 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7" y="2468880"/>
            <a:ext cx="4690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Never reuse your email password. Use a manager like Bitwarden or 1Password.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73552"/>
            <a:ext cx="51937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273552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456432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2533"/>
                </a:solidFill>
                <a:latin typeface="Segoe UI"/>
              </a:rPr>
              <a:t>📧 Watch for phishing emails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822191"/>
            <a:ext cx="4690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LinkedIn never asks for your password by email. Always log in via the official site.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273552"/>
            <a:ext cx="51937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0488" y="3273552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7" y="3456432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2533"/>
                </a:solidFill>
                <a:latin typeface="Segoe UI"/>
              </a:rPr>
              <a:t>👁️ Review active sessions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7" y="3822191"/>
            <a:ext cx="4690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Settings → Security → Where you're signed in. Remove devices you don't recognise.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626864"/>
            <a:ext cx="51937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626864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809744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2533"/>
                </a:solidFill>
                <a:latin typeface="Segoe UI"/>
              </a:rPr>
              <a:t>🔒 Control profile 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175504"/>
            <a:ext cx="4690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Settings → Visibility — choose who can see your connections, email, and activity.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4626864"/>
            <a:ext cx="5193792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0488" y="4626864"/>
            <a:ext cx="82296" cy="1170432"/>
          </a:xfrm>
          <a:prstGeom prst="roundRect">
            <a:avLst>
              <a:gd name="adj" fmla="val 50000"/>
            </a:avLst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7" y="4809744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B2533"/>
                </a:solidFill>
                <a:latin typeface="Segoe UI"/>
              </a:rPr>
              <a:t>✅ Two minutes, today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5175504"/>
            <a:ext cx="46908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E6E7E"/>
                </a:solidFill>
                <a:latin typeface="Segoe UI"/>
              </a:rPr>
              <a:t>Most of these take under five minutes — set them up before you do anything else.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B6C0CA"/>
                </a:solidFill>
                <a:latin typeface="Segoe UI"/>
              </a:rPr>
              <a:t>Cyhana Williams ©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9AA6B2"/>
                </a:solidFill>
                <a:latin typeface="Segoe UI"/>
              </a:rPr>
              <a:t>LinkedIn 101  ·  Topic 08 — Staying Safe Online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9AA6B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STAY SAFE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Why profiles get restricted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A9B4C2"/>
                </a:solidFill>
                <a:latin typeface="Segoe UI"/>
              </a:rPr>
              <a:t>Stay within LinkedIn's User Agreement — these behaviours trigger restrictions or bans.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193792" cy="100584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249424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🤖 Bot-like 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596896"/>
            <a:ext cx="4690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A9B4C2"/>
                </a:solidFill>
                <a:latin typeface="Segoe UI"/>
              </a:rPr>
              <a:t>Mass connection requests sent too fast trip spam filters.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2103120"/>
            <a:ext cx="5193792" cy="100584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0488" y="2103120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2249424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📛 Fake name or impersonation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2596896"/>
            <a:ext cx="4690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A9B4C2"/>
                </a:solidFill>
                <a:latin typeface="Segoe UI"/>
              </a:rPr>
              <a:t>False names or fictional profiles violate the User Agreement.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273552"/>
            <a:ext cx="5193792" cy="100584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273552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419856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📢 Spam or aggressive promotion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67328"/>
            <a:ext cx="4690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A9B4C2"/>
                </a:solidFill>
                <a:latin typeface="Segoe UI"/>
              </a:rPr>
              <a:t>Repeated unsolicited sales messages or duplicated content.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3273552"/>
            <a:ext cx="5193792" cy="100584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0488" y="3273552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3419856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🚫 Prohibited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3767328"/>
            <a:ext cx="4690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A9B4C2"/>
                </a:solidFill>
                <a:latin typeface="Segoe UI"/>
              </a:rPr>
              <a:t>Hate speech, harassment, misinformation, or adult content.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4443983"/>
            <a:ext cx="5193792" cy="100584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443983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590288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📋 Multiple accounts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937759"/>
            <a:ext cx="4690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A9B4C2"/>
                </a:solidFill>
                <a:latin typeface="Segoe UI"/>
              </a:rPr>
              <a:t>One person = one profile. Extra personal profiles break policy.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4443983"/>
            <a:ext cx="5193792" cy="100584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90488" y="4443983"/>
            <a:ext cx="82296" cy="1005840"/>
          </a:xfrm>
          <a:prstGeom prst="roundRect">
            <a:avLst>
              <a:gd name="adj" fmla="val 50000"/>
            </a:avLst>
          </a:prstGeom>
          <a:solidFill>
            <a:srgbClr val="E07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7" y="4590288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🔔 Too many rejected requests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7" y="4937759"/>
            <a:ext cx="4690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A9B4C2"/>
                </a:solidFill>
                <a:latin typeface="Segoe UI"/>
              </a:rPr>
              <a:t>Many 'I don't know this person' marks restrict your ability to connect.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08 — Staying Safe Online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75488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409AE0"/>
                </a:solidFill>
                <a:latin typeface="Segoe UI Semibold"/>
              </a:rPr>
              <a:t>IN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Segoe UI Semibold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00200"/>
            <a:ext cx="10607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If an offer seems too good to be true, it almost certainly is.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Never pay fees or click unknown links — recruiters won't ask you to.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Turn on 2FA and use a unique password today; it takes two minutes.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450" b="1" i="0">
                <a:solidFill>
                  <a:srgbClr val="2E9E5B"/>
                </a:solidFill>
                <a:latin typeface="Segoe UI"/>
              </a:rPr>
              <a:t>✓ 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Avoid bot-like mass requests and fake details — they get profiles restricted.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074920"/>
            <a:ext cx="10607040" cy="960120"/>
          </a:xfrm>
          <a:prstGeom prst="roundRect">
            <a:avLst>
              <a:gd name="adj" fmla="val 6000"/>
            </a:avLst>
          </a:prstGeom>
          <a:solidFill>
            <a:srgbClr val="1C2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5074920"/>
            <a:ext cx="82296" cy="960120"/>
          </a:xfrm>
          <a:prstGeom prst="roundRect">
            <a:avLst>
              <a:gd name="adj" fmla="val 50000"/>
            </a:avLst>
          </a:prstGeom>
          <a:solidFill>
            <a:srgbClr val="409A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138928"/>
            <a:ext cx="10149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FFFFFF"/>
                </a:solidFill>
                <a:latin typeface="Segoe UI"/>
              </a:rPr>
              <a:t>"Legitimate recruiters never ask you to pay — protect your account first."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46704" y="6455664"/>
            <a:ext cx="5486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4A5668"/>
                </a:solidFill>
                <a:latin typeface="Segoe UI"/>
              </a:rPr>
              <a:t>Cyhana Williams ©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455664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A9B4C2"/>
                </a:solidFill>
                <a:latin typeface="Segoe UI"/>
              </a:rPr>
              <a:t>LinkedIn 101  ·  Topic 08 — Staying Safe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55664"/>
            <a:ext cx="327355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A9B4C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